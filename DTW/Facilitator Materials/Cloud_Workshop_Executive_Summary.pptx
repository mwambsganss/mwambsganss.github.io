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56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0514E3-238C-0D60-5617-45B5913DEFF3}" v="8" dt="2026-03-18T19:29:59.0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4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ph Steven Hohlier" userId="S::joseph.hohlier@lilly.com::e85c8368-c681-4cb5-b62c-726d1754f1ef" providerId="AD" clId="Web-{530514E3-238C-0D60-5617-45B5913DEFF3}"/>
    <pc:docChg chg="modSld">
      <pc:chgData name="Joseph Steven Hohlier" userId="S::joseph.hohlier@lilly.com::e85c8368-c681-4cb5-b62c-726d1754f1ef" providerId="AD" clId="Web-{530514E3-238C-0D60-5617-45B5913DEFF3}" dt="2026-03-18T19:29:59.011" v="7" actId="20577"/>
      <pc:docMkLst>
        <pc:docMk/>
      </pc:docMkLst>
      <pc:sldChg chg="modSp">
        <pc:chgData name="Joseph Steven Hohlier" userId="S::joseph.hohlier@lilly.com::e85c8368-c681-4cb5-b62c-726d1754f1ef" providerId="AD" clId="Web-{530514E3-238C-0D60-5617-45B5913DEFF3}" dt="2026-03-18T19:29:59.011" v="7" actId="20577"/>
        <pc:sldMkLst>
          <pc:docMk/>
          <pc:sldMk cId="0" sldId="262"/>
        </pc:sldMkLst>
        <pc:spChg chg="mod">
          <ac:chgData name="Joseph Steven Hohlier" userId="S::joseph.hohlier@lilly.com::e85c8368-c681-4cb5-b62c-726d1754f1ef" providerId="AD" clId="Web-{530514E3-238C-0D60-5617-45B5913DEFF3}" dt="2026-03-18T19:29:34.198" v="0" actId="20577"/>
          <ac:spMkLst>
            <pc:docMk/>
            <pc:sldMk cId="0" sldId="262"/>
            <ac:spMk id="7" creationId="{00000000-0000-0000-0000-000000000000}"/>
          </ac:spMkLst>
        </pc:spChg>
        <pc:spChg chg="mod">
          <ac:chgData name="Joseph Steven Hohlier" userId="S::joseph.hohlier@lilly.com::e85c8368-c681-4cb5-b62c-726d1754f1ef" providerId="AD" clId="Web-{530514E3-238C-0D60-5617-45B5913DEFF3}" dt="2026-03-18T19:29:45.964" v="4" actId="20577"/>
          <ac:spMkLst>
            <pc:docMk/>
            <pc:sldMk cId="0" sldId="262"/>
            <ac:spMk id="27" creationId="{00000000-0000-0000-0000-000000000000}"/>
          </ac:spMkLst>
        </pc:spChg>
        <pc:spChg chg="mod">
          <ac:chgData name="Joseph Steven Hohlier" userId="S::joseph.hohlier@lilly.com::e85c8368-c681-4cb5-b62c-726d1754f1ef" providerId="AD" clId="Web-{530514E3-238C-0D60-5617-45B5913DEFF3}" dt="2026-03-18T19:29:59.011" v="7" actId="20577"/>
          <ac:spMkLst>
            <pc:docMk/>
            <pc:sldMk cId="0" sldId="262"/>
            <ac:spMk id="4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4924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0"/>
            <a:ext cx="1645920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CONNECTIVITY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Thinking &amp;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AI Workshop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32004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12, 2026  |  Tech@Lilly Infrastructure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7947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Leaders • Design Thinking Framework • Agentic AI Strategy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PURPOSE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 Came Together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402336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Goals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9339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3232" y="193852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and organize agentic/automation ideas into themes and a backlog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3232" y="236829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strategy, direction, and 3-year vision for Cloud &amp; Connectivity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85292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3232" y="279806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cross-team collaboration and alignment across C&amp;C domains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28269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3232" y="322783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process improvement opportunities across build, run, and govern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71246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3232" y="36576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ownership boundaries and team interdependencies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414223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3232" y="408736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Agentic AI concepts to practical, real use cases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00600" y="146304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00600" y="1463040"/>
            <a:ext cx="4023360" cy="365760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92040" y="1463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Focus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196596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Productivity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21488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processes, and workflows for C&amp;C teams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37760" y="250545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Value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26883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benefiting teams and customers served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37760" y="304495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Processes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32278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individual tools — full workflows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37760" y="358444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Stakeholders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37760" y="37673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teams, 3rd parties, vendors, and consumers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37760" y="412394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Ideation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43068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bad ideas; T-shirt sizing to determine pursuit approach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PAINS &amp; THEMES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Teams Are Experiencing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92608" y="1435608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92608" y="1435608"/>
            <a:ext cx="438912" cy="1572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10896" y="1527048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1527048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Operations Overload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1874520"/>
            <a:ext cx="2176272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are stuck in fire-fighting mode. Manual triage, high MTTR, and alert fatigue consume capacity that should go toward innovation.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435608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435608"/>
            <a:ext cx="438912" cy="1572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18688" y="1527048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12464" y="1527048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Observability &amp; CMDB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12464" y="1874520"/>
            <a:ext cx="2176272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monitoring tools, incomplete CMDB data, and lack of service mapping prevent automated root-cause analysis and self-healing.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08192" y="1435608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08192" y="1435608"/>
            <a:ext cx="438912" cy="1572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26480" y="1527048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20256" y="1527048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Churn &amp; Alignment Gaps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20256" y="1874520"/>
            <a:ext cx="2176272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project work disrupts quarterly plans. Misalignment between infra and app teams, and between cloud and cyber, creates rework.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92608" y="3172968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92608" y="3172968"/>
            <a:ext cx="438912" cy="1572768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10896" y="3264408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04672" y="3264408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Financial &amp; Procurement Processes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4672" y="3611880"/>
            <a:ext cx="2176272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requests arrive via email, SharePoint, and ServiceNow. Invoice approvals require manual follow-ups. FinOps chargeback is time-consuming.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0" y="3172968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0" y="3172968"/>
            <a:ext cx="438912" cy="1572768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18688" y="3264408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712464" y="3264408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vs. Speed Tension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12464" y="3611880"/>
            <a:ext cx="2176272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review processes slow cloud innovation. Policy-as-code adoption is limited. Full 'as-code' post-deploy governance does not yet exist.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08192" y="3172968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108192" y="3172968"/>
            <a:ext cx="438912" cy="1572768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126480" y="3264408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20256" y="3264408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&amp; Career Growth Concern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20256" y="3611880"/>
            <a:ext cx="2176272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worry about upskilling pace, tribal knowledge loss from retirements, and lack of time outside daily ops to learn new agentic capabilities.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AGENTIC OPPORTUNITIES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Agent Opportunities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START NOW (HIGH IMPACT, HIGH FEASIBILITY)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2608" y="1691640"/>
            <a:ext cx="1591056" cy="1463040"/>
          </a:xfrm>
          <a:prstGeom prst="rect">
            <a:avLst/>
          </a:prstGeom>
          <a:solidFill>
            <a:srgbClr val="1A3060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2608" y="1691640"/>
            <a:ext cx="1591056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76479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Research &amp; Triage Agent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176272"/>
            <a:ext cx="146304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observability + ServiceNow data, answers Q&amp;A, drafts documentation, supports human handoff.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0" y="1691640"/>
            <a:ext cx="1591056" cy="1463040"/>
          </a:xfrm>
          <a:prstGeom prst="rect">
            <a:avLst/>
          </a:prstGeom>
          <a:solidFill>
            <a:srgbClr val="1A3060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011680" y="1691640"/>
            <a:ext cx="1591056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084832" y="176479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ChatOps Diagnostics Agent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84832" y="2176272"/>
            <a:ext cx="146304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diagnostic actions via chat interface; reduces tool switching and manual triage.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30752" y="1691640"/>
            <a:ext cx="1591056" cy="1463040"/>
          </a:xfrm>
          <a:prstGeom prst="rect">
            <a:avLst/>
          </a:prstGeom>
          <a:solidFill>
            <a:srgbClr val="1A3060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730752" y="1691640"/>
            <a:ext cx="1591056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03904" y="176479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Intake Classification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03904" y="2176272"/>
            <a:ext cx="146304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capex vs. purchase, requests correct fields, organizes quotes/SOW/change orders.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49824" y="1691640"/>
            <a:ext cx="1591056" cy="1463040"/>
          </a:xfrm>
          <a:prstGeom prst="rect">
            <a:avLst/>
          </a:prstGeom>
          <a:solidFill>
            <a:srgbClr val="1A3060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49824" y="1691640"/>
            <a:ext cx="1591056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522976" y="176479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 Accuracy &amp; Refresh Agent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22976" y="2176272"/>
            <a:ext cx="146304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Cleanses, validates, and refreshes metadata using discovery inputs — foundation for all automation.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68896" y="1691640"/>
            <a:ext cx="1591056" cy="1463040"/>
          </a:xfrm>
          <a:prstGeom prst="rect">
            <a:avLst/>
          </a:prstGeom>
          <a:solidFill>
            <a:srgbClr val="1A3060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168896" y="1691640"/>
            <a:ext cx="1591056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242048" y="176479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Patching Exemption Auto-Approval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42048" y="2176272"/>
            <a:ext cx="146304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Auto-approves exemptions meeting defined criteria and generates ServiceNow documentation from template.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32461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HIGH VALUE, MEDIUM EFFORT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92608" y="3566160"/>
            <a:ext cx="1591056" cy="1325880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92608" y="3566160"/>
            <a:ext cx="1591056" cy="45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363016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Response COE Copilot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4014216"/>
            <a:ext cx="14630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L1.5 alert intake, correlation, enrichment, playbook execution &amp; routing.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011680" y="3566160"/>
            <a:ext cx="1591056" cy="1325880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011680" y="3566160"/>
            <a:ext cx="1591056" cy="45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084832" y="363016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Chat-Driven Cloud Provisioning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084832" y="4014216"/>
            <a:ext cx="14630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resource requests → deploys infrastructure using approved patterns.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730752" y="3566160"/>
            <a:ext cx="1591056" cy="1325880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730752" y="3566160"/>
            <a:ext cx="1591056" cy="45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803904" y="363016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 Runbook Builder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803904" y="4014216"/>
            <a:ext cx="14630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prose runbooks into agent-callable tools with defined inputs/outputs.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49824" y="3566160"/>
            <a:ext cx="1591056" cy="1325880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449824" y="3566160"/>
            <a:ext cx="1591056" cy="45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522976" y="363016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FinOps Automation Agent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522976" y="4014216"/>
            <a:ext cx="14630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PO, invoice, and chargeback processes in partnership with Procurement.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168896" y="3566160"/>
            <a:ext cx="1591056" cy="1325880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7168896" y="3566160"/>
            <a:ext cx="1591056" cy="45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242048" y="363016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 Job Failure Diagnostic Agent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242048" y="4014216"/>
            <a:ext cx="14630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failed/slow HPC jobs; explains issues in scientist-friendly language.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REALIZATION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Outcomes by Theme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92608" y="1444752"/>
            <a:ext cx="4187952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92608" y="1444752"/>
            <a:ext cx="1097280" cy="16093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1627632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90%+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9184" y="2194560"/>
            <a:ext cx="1042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target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463040" y="15361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Operations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463040" y="1947672"/>
            <a:ext cx="9144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618488" y="188366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MTTR and after-hours incident work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463040" y="2313432"/>
            <a:ext cx="9144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618488" y="224942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false positives reaching human operators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463040" y="2679192"/>
            <a:ext cx="9144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618488" y="26151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from reactive → proactive reliability posture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27448" y="1444752"/>
            <a:ext cx="4187952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27448" y="1444752"/>
            <a:ext cx="1097280" cy="1609344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82312" y="1627632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80–95%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64024" y="2194560"/>
            <a:ext cx="1042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detection (aspiration)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897880" y="15361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Observability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897880" y="1947672"/>
            <a:ext cx="9144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053328" y="188366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pane of glass across all C&amp;C services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897880" y="2313432"/>
            <a:ext cx="9144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053328" y="224942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Service-centric signals replace component-level noise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897880" y="2679192"/>
            <a:ext cx="9144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053328" y="26151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correlation reduces manual hunt work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92608" y="3200400"/>
            <a:ext cx="4187952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92608" y="3200400"/>
            <a:ext cx="1097280" cy="16093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7472" y="338328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29184" y="3950208"/>
            <a:ext cx="1042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IaC deployments (goal)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463040" y="32918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Self-Service &amp; FullStack Automation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463040" y="3703320"/>
            <a:ext cx="9144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618488" y="36393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quality docs updated automatically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463040" y="4069080"/>
            <a:ext cx="9144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618488" y="400507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Paved-path pipelines with embedded policy guardrails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463040" y="4434840"/>
            <a:ext cx="9144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618488" y="437083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deployments, reduced governance friction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27448" y="3200400"/>
            <a:ext cx="4187952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727448" y="3200400"/>
            <a:ext cx="1097280" cy="16093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782312" y="338328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4764024" y="3950208"/>
            <a:ext cx="1042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intake system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897880" y="32918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Procurement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897880" y="3703320"/>
            <a:ext cx="9144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053328" y="36393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multi-channel intake chaos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897880" y="4069080"/>
            <a:ext cx="9144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053328" y="400507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PO/invoice reconciliation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897880" y="4434840"/>
            <a:ext cx="9144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053328" y="437083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approvals and capital close-out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Experience-Based Roadmap for Top Themes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56032" y="1417320"/>
            <a:ext cx="27980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1417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" y="1673352"/>
            <a:ext cx="265176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 – 3 months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56032" y="1920240"/>
            <a:ext cx="2798064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029968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975104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 Refresh &amp; Unified Inventory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365760" y="2377440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322576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Health &amp; Monitoring Signals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365760" y="2724912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670048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Purchase/Capital Intake System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365760" y="3072384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017520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After-Action Reviews as Automation Backlog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365760" y="3419856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364992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Correlation to Failed Changes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365760" y="3767328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3712464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Upskilling &amp; Agentic AI Roadmap Definition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365760" y="4114800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4059936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Experience for Cloud Full-Stack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365760" y="4462272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4407408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AIOps Integration (EC + Cloud)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3200400" y="1417320"/>
            <a:ext cx="2798064" cy="502920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91840" y="1417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91840" y="1673352"/>
            <a:ext cx="265176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9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 – 6 months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200400" y="1920240"/>
            <a:ext cx="2798064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310128" y="2029968"/>
            <a:ext cx="128016" cy="128016"/>
          </a:xfrm>
          <a:prstGeom prst="ellipse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493008" y="1975104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Complementing Agents (C&amp;C)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3310128" y="2377440"/>
            <a:ext cx="128016" cy="128016"/>
          </a:xfrm>
          <a:prstGeom prst="ellipse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493008" y="2322576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Chat-Driven Cloud Provisioning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3310128" y="2724912"/>
            <a:ext cx="128016" cy="128016"/>
          </a:xfrm>
          <a:prstGeom prst="ellipse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493008" y="2670048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Drift Detection &amp; Correction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3310128" y="3072384"/>
            <a:ext cx="128016" cy="128016"/>
          </a:xfrm>
          <a:prstGeom prst="ellipse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493008" y="3017520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System for Capital Close-Out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3310128" y="3419856"/>
            <a:ext cx="128016" cy="128016"/>
          </a:xfrm>
          <a:prstGeom prst="ellipse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493008" y="3364992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Pane of Glass Observability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3310128" y="3767328"/>
            <a:ext cx="128016" cy="128016"/>
          </a:xfrm>
          <a:prstGeom prst="ellipse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493008" y="3712464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APM, RUM &amp; Synthetics Tool Selection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3310128" y="4114800"/>
            <a:ext cx="128016" cy="128016"/>
          </a:xfrm>
          <a:prstGeom prst="ellipse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493008" y="4059936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Pipeline Platform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3310128" y="4462272"/>
            <a:ext cx="128016" cy="128016"/>
          </a:xfrm>
          <a:prstGeom prst="ellipse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493008" y="4407408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Full-Stack Automation (IaC + CfgMgmt)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6144768" y="1417320"/>
            <a:ext cx="2798064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236208" y="1417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236208" y="1673352"/>
            <a:ext cx="265176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6-12+ months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144768" y="1920240"/>
            <a:ext cx="2798064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254496" y="2029968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437376" y="1975104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OPS Model &amp; Service Response COE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6254496" y="2377440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437376" y="2322576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Unified Observability</a:t>
            </a:r>
            <a:endParaRPr lang="en-US" sz="880" dirty="0"/>
          </a:p>
        </p:txBody>
      </p:sp>
      <p:sp>
        <p:nvSpPr>
          <p:cNvPr id="53" name="Shape 51"/>
          <p:cNvSpPr/>
          <p:nvPr/>
        </p:nvSpPr>
        <p:spPr>
          <a:xfrm>
            <a:off x="6254496" y="2724912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437376" y="2670048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/ Self-Healing Operations</a:t>
            </a:r>
            <a:endParaRPr lang="en-US" sz="880" dirty="0"/>
          </a:p>
        </p:txBody>
      </p:sp>
      <p:sp>
        <p:nvSpPr>
          <p:cNvPr id="55" name="Shape 53"/>
          <p:cNvSpPr/>
          <p:nvPr/>
        </p:nvSpPr>
        <p:spPr>
          <a:xfrm>
            <a:off x="6254496" y="3072384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437376" y="3017520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Qualification Docs</a:t>
            </a:r>
            <a:endParaRPr lang="en-US" sz="880" dirty="0"/>
          </a:p>
        </p:txBody>
      </p:sp>
      <p:sp>
        <p:nvSpPr>
          <p:cNvPr id="57" name="Shape 55"/>
          <p:cNvSpPr/>
          <p:nvPr/>
        </p:nvSpPr>
        <p:spPr>
          <a:xfrm>
            <a:off x="6254496" y="3419856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437376" y="3364992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Cloud Fabric &amp; Paved-Path Pipelines</a:t>
            </a:r>
            <a:endParaRPr lang="en-US" sz="880" dirty="0"/>
          </a:p>
        </p:txBody>
      </p:sp>
      <p:sp>
        <p:nvSpPr>
          <p:cNvPr id="59" name="Shape 57"/>
          <p:cNvSpPr/>
          <p:nvPr/>
        </p:nvSpPr>
        <p:spPr>
          <a:xfrm>
            <a:off x="6254496" y="3767328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437376" y="3712464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Policy-as-Code at Scale</a:t>
            </a:r>
            <a:endParaRPr lang="en-US" sz="880" dirty="0"/>
          </a:p>
        </p:txBody>
      </p:sp>
      <p:sp>
        <p:nvSpPr>
          <p:cNvPr id="61" name="Shape 59"/>
          <p:cNvSpPr/>
          <p:nvPr/>
        </p:nvSpPr>
        <p:spPr>
          <a:xfrm>
            <a:off x="6254496" y="4114800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437376" y="4059936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AI/HPC Factory Operations</a:t>
            </a:r>
            <a:endParaRPr lang="en-US" sz="880" dirty="0"/>
          </a:p>
        </p:txBody>
      </p:sp>
      <p:sp>
        <p:nvSpPr>
          <p:cNvPr id="63" name="Shape 61"/>
          <p:cNvSpPr/>
          <p:nvPr/>
        </p:nvSpPr>
        <p:spPr>
          <a:xfrm>
            <a:off x="6254496" y="4462272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437376" y="4407408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Purchasing Tracking</a:t>
            </a:r>
            <a:endParaRPr lang="en-US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&amp; OPEN QUESTIONS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Risks, Assumptions &amp; Uncertainties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92608" y="1426464"/>
            <a:ext cx="41605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292608" y="1426464"/>
            <a:ext cx="416052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142646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HIGH-RISK Assumptions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0624" y="1883664"/>
            <a:ext cx="9144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85216" y="18288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will continue to be a challenge for agentic initiatives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0624" y="2249424"/>
            <a:ext cx="9144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5216" y="21945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won't have enough Lilly staff to lead all agentic ideas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0624" y="2615184"/>
            <a:ext cx="9144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85216" y="25603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of upskilling must catch up with disruptive agentic tech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0624" y="2980944"/>
            <a:ext cx="9144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5216" y="29260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service mapping data will limit agent accuracy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0624" y="3346704"/>
            <a:ext cx="9144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85216" y="32918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Apprehension to legacy-change will slow adoption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0624" y="3712464"/>
            <a:ext cx="9144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5216" y="36576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Buy-in from all Tech@Lilly functional teams is required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0624" y="4078224"/>
            <a:ext cx="9144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85216" y="40233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will struggle to find time outside daily ops to build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0624" y="4443984"/>
            <a:ext cx="9144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85216" y="43891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of data will exceed storage/processing in 2–3 years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426464"/>
            <a:ext cx="4114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1426464"/>
            <a:ext cx="4114800" cy="365760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142646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Open Questions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92040" y="1883664"/>
            <a:ext cx="91440" cy="91440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56632" y="18288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upskill teams across the many agentic tools available?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92040" y="2249424"/>
            <a:ext cx="91440" cy="91440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56632" y="21945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we prioritize ideas across so many agentic opportunities?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92040" y="2615184"/>
            <a:ext cx="91440" cy="91440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56632" y="25603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impact on human vs. agent workforce requirements?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92040" y="2980944"/>
            <a:ext cx="91440" cy="91440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56632" y="29260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measure value (financial / DevEx) when base data is absent?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92040" y="3346704"/>
            <a:ext cx="91440" cy="91440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56632" y="32918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monitoring &amp; observability teams consolidate into one team?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92040" y="3712464"/>
            <a:ext cx="91440" cy="91440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56632" y="36576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we switch to open-source platforms for automation?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92040" y="4078224"/>
            <a:ext cx="91440" cy="91440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056632" y="40233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org &amp; leadership changes affect strategic direction?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92040" y="4443984"/>
            <a:ext cx="91440" cy="91440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056632" y="43891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way to interface SAP data into a financial tracking system?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ACTIONS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Workshop to Execution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1389888"/>
            <a:ext cx="2743200" cy="1627632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1389888"/>
            <a:ext cx="384048" cy="16276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3474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3232" y="1435608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Socialize &amp; Validate Summary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13232" y="1682496"/>
            <a:ext cx="22128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713232" y="1975104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0392" y="1920240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this executive summary with all workshop participants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13232" y="2322576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50392" y="2267712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priorities and correct any gaps or misrepresentations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13232" y="2670048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50392" y="2615184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with CTO/senior leadership on the agentic strategy direction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163824" y="1389888"/>
            <a:ext cx="2743200" cy="1627632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163824" y="1389888"/>
            <a:ext cx="384048" cy="16276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182112" y="1463040"/>
            <a:ext cx="3474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621024" y="1435608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Top-3 Near-Term Pilots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21024" y="1682496"/>
            <a:ext cx="22128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Arch Leads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621024" y="1975104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758184" y="1920240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Research &amp; Triage Agent — define scope, tooling, and metrics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21024" y="2322576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758184" y="2267712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 Refresh Agent — assign ownership with SLAs for Tier 0/1 services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21024" y="2670048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758184" y="2615184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Purchase Intake System — select system, define workflow, pilot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071616" y="1389888"/>
            <a:ext cx="2743200" cy="1627632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071616" y="1389888"/>
            <a:ext cx="384048" cy="16276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089904" y="1463040"/>
            <a:ext cx="3474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528816" y="1435608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 &amp; Service Mapping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528816" y="1682496"/>
            <a:ext cx="22128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Teams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528816" y="1975104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665976" y="1920240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explicit ownership for service maps and CI relationships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528816" y="2322576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665976" y="2267712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scheduled discovery updates (daily cadence for key services)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528816" y="2670048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665976" y="2615184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SLAs on CMDB freshness/accuracy as a reliability product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536192" y="3127248"/>
            <a:ext cx="2743200" cy="1627632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536192" y="3127248"/>
            <a:ext cx="384048" cy="16276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554480" y="3200400"/>
            <a:ext cx="3474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993392" y="3172968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Upskilling &amp; Governance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993392" y="3419856"/>
            <a:ext cx="22128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C&amp;C Leaders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1993392" y="3712464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130552" y="3657600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 Agentic COE or governance model to prevent agent sprawl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993392" y="4059936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130552" y="4005072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learning path for agentic tool education across all roles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993392" y="4407408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130552" y="4352544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'reasoning receipt' standards for agent auditability/trust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443984" y="3127248"/>
            <a:ext cx="2743200" cy="1627632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443984" y="3127248"/>
            <a:ext cx="384048" cy="16276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462272" y="3200400"/>
            <a:ext cx="3474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4901184" y="3172968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Formalize the Ops Model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901184" y="3419856"/>
            <a:ext cx="22128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+ AIOps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901184" y="3712464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038344" y="3657600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Service Response COE (L1.5) structure and accountabilities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901184" y="4059936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038344" y="4005072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incident execution in ServiceNow Service Ops Workspace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901184" y="4407408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038344" y="4352544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every P1/P2 AAR into a signal improvement + automation backlog item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1" name="Text 59"/>
          <p:cNvSpPr/>
          <p:nvPr/>
        </p:nvSpPr>
        <p:spPr>
          <a:xfrm>
            <a:off x="274320" y="48280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"Fix data and signals first → automate decisions → enable autonomy.  The roadmap shows clear sequencing discipline."</a:t>
            </a:r>
            <a:endParaRPr lang="en-US" sz="11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08d69c1-05bf-428a-8594-387525229387">
      <Terms xmlns="http://schemas.microsoft.com/office/infopath/2007/PartnerControls"/>
    </lcf76f155ced4ddcb4097134ff3c332f>
    <TaxCatchAll xmlns="7adf046d-67cb-4b81-adac-f4121e75a00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712A39101E6DA49ADD2CB584BA9C9AC" ma:contentTypeVersion="19" ma:contentTypeDescription="Create a new document." ma:contentTypeScope="" ma:versionID="d29467b69da5200c2564317b8423a90d">
  <xsd:schema xmlns:xsd="http://www.w3.org/2001/XMLSchema" xmlns:xs="http://www.w3.org/2001/XMLSchema" xmlns:p="http://schemas.microsoft.com/office/2006/metadata/properties" xmlns:ns2="908d69c1-05bf-428a-8594-387525229387" xmlns:ns3="7adf046d-67cb-4b81-adac-f4121e75a008" targetNamespace="http://schemas.microsoft.com/office/2006/metadata/properties" ma:root="true" ma:fieldsID="74d75744fa9c1013e419e654f244060c" ns2:_="" ns3:_="">
    <xsd:import namespace="908d69c1-05bf-428a-8594-387525229387"/>
    <xsd:import namespace="7adf046d-67cb-4b81-adac-f4121e75a00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8d69c1-05bf-428a-8594-3875252293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f9adb9bf-65a7-4dcd-b9fe-2cabe70ed6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df046d-67cb-4b81-adac-f4121e75a008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cf343d33-c4d0-4a07-8755-4fdcbfdae225}" ma:internalName="TaxCatchAll" ma:showField="CatchAllData" ma:web="7adf046d-67cb-4b81-adac-f4121e75a00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70F6D10-D42D-4EC8-9A0F-79D6C87CC899}">
  <ds:schemaRefs>
    <ds:schemaRef ds:uri="http://schemas.microsoft.com/office/2006/metadata/properties"/>
    <ds:schemaRef ds:uri="http://schemas.microsoft.com/office/infopath/2007/PartnerControls"/>
    <ds:schemaRef ds:uri="908d69c1-05bf-428a-8594-387525229387"/>
    <ds:schemaRef ds:uri="7adf046d-67cb-4b81-adac-f4121e75a008"/>
  </ds:schemaRefs>
</ds:datastoreItem>
</file>

<file path=customXml/itemProps2.xml><?xml version="1.0" encoding="utf-8"?>
<ds:datastoreItem xmlns:ds="http://schemas.openxmlformats.org/officeDocument/2006/customXml" ds:itemID="{28916D5B-AF22-4371-A102-808CFC0F9D9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05D1576-F869-48A5-A7C6-2F89FBB06E5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08d69c1-05bf-428a-8594-387525229387"/>
    <ds:schemaRef ds:uri="7adf046d-67cb-4b81-adac-f4121e75a00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1217</Words>
  <Application>Microsoft Office PowerPoint</Application>
  <PresentationFormat>On-screen Show (16:9)</PresentationFormat>
  <Paragraphs>189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&amp; Connectivity – Agentic AI Workshop Executive Summary</dc:title>
  <dc:subject>PptxGenJS Presentation</dc:subject>
  <dc:creator>PptxGenJS</dc:creator>
  <cp:lastModifiedBy>Greg S Graf</cp:lastModifiedBy>
  <cp:revision>6</cp:revision>
  <dcterms:created xsi:type="dcterms:W3CDTF">2026-03-17T18:42:03Z</dcterms:created>
  <dcterms:modified xsi:type="dcterms:W3CDTF">2026-03-18T19:30:05Z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0x010100A712A39101E6DA49ADD2CB584BA9C9AC</vt:lpwstr>
  </property>
  <property fmtid="{D5CDD505-2E9C-101B-9397-08002B2CF9AE}" pid="3" name="MediaServiceImageTags">
    <vt:lpwstr/>
  </property>
</Properties>
</file>