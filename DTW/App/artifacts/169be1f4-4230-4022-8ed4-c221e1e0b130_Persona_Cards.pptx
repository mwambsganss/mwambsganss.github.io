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l"/>
            <a:r>
              <a:rPr sz="2400" b="1">
                <a:solidFill>
                  <a:srgbClr val="FFFFFF"/>
                </a:solidFill>
              </a:rPr>
              <a:t>Persona Cards — Campaign Operations 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1143000"/>
            <a:ext cx="65836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>
                <a:solidFill>
                  <a:srgbClr val="1A1A1A"/>
                </a:solidFill>
              </a:rPr>
              <a:t>• Exercise:** Persona Mapping | **Phase:** Understanding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1A1A1A"/>
                </a:solidFill>
              </a:rPr>
              <a:t>• Date:** March 18, 2026 | **Facilitated via:** IBM Enterprise Design Thinking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242048" y="1252728"/>
            <a:ext cx="1417320" cy="1234440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78040" y="1188720"/>
            <a:ext cx="1417320" cy="1234440"/>
          </a:xfrm>
          <a:prstGeom prst="rect">
            <a:avLst/>
          </a:prstGeom>
          <a:solidFill>
            <a:srgbClr val="FFF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l"/>
            <a:r>
              <a:rPr sz="1000">
                <a:solidFill>
                  <a:srgbClr val="1A1A1A"/>
                </a:solidFill>
              </a:rPr>
              <a:t>Exercise:** Persona Mapping | **Phase:** Understanding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8769096" y="1252728"/>
            <a:ext cx="1417320" cy="1234440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05088" y="1188720"/>
            <a:ext cx="1417320" cy="1234440"/>
          </a:xfrm>
          <a:prstGeom prst="rect">
            <a:avLst/>
          </a:prstGeom>
          <a:solidFill>
            <a:srgbClr val="A8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l"/>
            <a:r>
              <a:rPr sz="900">
                <a:solidFill>
                  <a:srgbClr val="1A1A1A"/>
                </a:solidFill>
              </a:rPr>
              <a:t>Date:** March 18, 2026 | **Facilitated via:** IBM Enterprise Design Thinking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l"/>
            <a:r>
              <a:rPr sz="2400" b="1">
                <a:solidFill>
                  <a:srgbClr val="FFFFFF"/>
                </a:solidFill>
              </a:rPr>
              <a:t>Persona: Campaign Manager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1143000"/>
            <a:ext cx="65836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>
                <a:solidFill>
                  <a:srgbClr val="1A1A1A"/>
                </a:solidFill>
              </a:rPr>
              <a:t>• Goals:**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1A1A1A"/>
                </a:solidFill>
              </a:rPr>
              <a:t>• Maintain real-time visibility across all active campaigns without relying on manual check-ins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1A1A1A"/>
                </a:solidFill>
              </a:rPr>
              <a:t>• Reduce time spent chasing status updates through informal channels like Slack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1A1A1A"/>
                </a:solidFill>
              </a:rPr>
              <a:t>• Serve as a reliable, informed point of coordination across campaign stakeholders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1A1A1A"/>
                </a:solidFill>
              </a:rPr>
              <a:t>• Pain Points:**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1A1A1A"/>
                </a:solidFill>
              </a:rPr>
              <a:t>• No single source of truth for campaign status — oversight requires constant, reactive outreach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1A1A1A"/>
                </a:solidFill>
              </a:rPr>
              <a:t>• Communication overhead is unsustainable at scale; managing 15+ campaigns amplifies every gap in tooling or process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1A1A1A"/>
                </a:solidFill>
              </a:rPr>
              <a:t>• Representative Quote:**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1A1A1A"/>
                </a:solidFill>
              </a:rPr>
              <a:t>• &gt; *"Constantly chasing updates via Slack."* — Sarah Chen</a:t>
            </a:r>
          </a:p>
        </p:txBody>
      </p:sp>
      <p:sp>
        <p:nvSpPr>
          <p:cNvPr id="4" name="Rectangle 3"/>
          <p:cNvSpPr/>
          <p:nvPr/>
        </p:nvSpPr>
        <p:spPr>
          <a:xfrm>
            <a:off x="7242048" y="1252728"/>
            <a:ext cx="1417320" cy="1234440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78040" y="1188720"/>
            <a:ext cx="1417320" cy="1234440"/>
          </a:xfrm>
          <a:prstGeom prst="rect">
            <a:avLst/>
          </a:prstGeom>
          <a:solidFill>
            <a:srgbClr val="FFF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l"/>
            <a:r>
              <a:rPr sz="1000">
                <a:solidFill>
                  <a:srgbClr val="1A1A1A"/>
                </a:solidFill>
              </a:rPr>
              <a:t>Goals:**</a:t>
            </a:r>
          </a:p>
        </p:txBody>
      </p:sp>
      <p:sp>
        <p:nvSpPr>
          <p:cNvPr id="6" name="Rectangle 5"/>
          <p:cNvSpPr/>
          <p:nvPr/>
        </p:nvSpPr>
        <p:spPr>
          <a:xfrm>
            <a:off x="8769096" y="1252728"/>
            <a:ext cx="1417320" cy="1234440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05088" y="1188720"/>
            <a:ext cx="1417320" cy="1234440"/>
          </a:xfrm>
          <a:prstGeom prst="rect">
            <a:avLst/>
          </a:prstGeom>
          <a:solidFill>
            <a:srgbClr val="A8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l"/>
            <a:r>
              <a:rPr sz="900">
                <a:solidFill>
                  <a:srgbClr val="1A1A1A"/>
                </a:solidFill>
              </a:rPr>
              <a:t>Maintain real-time visibility across all active campaigns without relying on manual check-ins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296144" y="1252728"/>
            <a:ext cx="1417320" cy="1234440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232136" y="1188720"/>
            <a:ext cx="1417320" cy="1234440"/>
          </a:xfrm>
          <a:prstGeom prst="rect">
            <a:avLst/>
          </a:prstGeom>
          <a:solidFill>
            <a:srgbClr val="A8F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l"/>
            <a:r>
              <a:rPr sz="900">
                <a:solidFill>
                  <a:srgbClr val="1A1A1A"/>
                </a:solidFill>
              </a:rPr>
              <a:t>Reduce time spent chasing status updates through informal channels like Slack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42048" y="2651760"/>
            <a:ext cx="1417320" cy="1234440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78040" y="2587752"/>
            <a:ext cx="1417320" cy="1234440"/>
          </a:xfrm>
          <a:prstGeom prst="rect">
            <a:avLst/>
          </a:prstGeom>
          <a:solidFill>
            <a:srgbClr val="FFC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l"/>
            <a:r>
              <a:rPr sz="900">
                <a:solidFill>
                  <a:srgbClr val="1A1A1A"/>
                </a:solidFill>
              </a:rPr>
              <a:t>Serve as a reliable, informed point of coordination across campaign stakeholders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69096" y="2651760"/>
            <a:ext cx="1417320" cy="1234440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705088" y="2587752"/>
            <a:ext cx="1417320" cy="1234440"/>
          </a:xfrm>
          <a:prstGeom prst="rect">
            <a:avLst/>
          </a:prstGeom>
          <a:solidFill>
            <a:srgbClr val="FFA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l"/>
            <a:r>
              <a:rPr sz="1000">
                <a:solidFill>
                  <a:srgbClr val="1A1A1A"/>
                </a:solidFill>
              </a:rPr>
              <a:t>Pain Points:**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296144" y="2651760"/>
            <a:ext cx="1417320" cy="1234440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232136" y="2587752"/>
            <a:ext cx="1417320" cy="1234440"/>
          </a:xfrm>
          <a:prstGeom prst="rect">
            <a:avLst/>
          </a:prstGeom>
          <a:solidFill>
            <a:srgbClr val="D4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l"/>
            <a:r>
              <a:rPr sz="900">
                <a:solidFill>
                  <a:srgbClr val="1A1A1A"/>
                </a:solidFill>
              </a:rPr>
              <a:t>No single source of truth for campaign status — oversight requires constant, reactive outreach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42048" y="4050792"/>
            <a:ext cx="1417320" cy="1234440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178040" y="3986784"/>
            <a:ext cx="1417320" cy="1234440"/>
          </a:xfrm>
          <a:prstGeom prst="rect">
            <a:avLst/>
          </a:prstGeom>
          <a:solidFill>
            <a:srgbClr val="FFF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l"/>
            <a:r>
              <a:rPr sz="800">
                <a:solidFill>
                  <a:srgbClr val="1A1A1A"/>
                </a:solidFill>
              </a:rPr>
              <a:t>Communication overhead is unsustainable at scale; managing 15+ campaigns amplifies every gap in tooling or process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769096" y="4050792"/>
            <a:ext cx="1417320" cy="1234440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705088" y="3986784"/>
            <a:ext cx="1417320" cy="1234440"/>
          </a:xfrm>
          <a:prstGeom prst="rect">
            <a:avLst/>
          </a:prstGeom>
          <a:solidFill>
            <a:srgbClr val="A8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l"/>
            <a:r>
              <a:rPr sz="1000">
                <a:solidFill>
                  <a:srgbClr val="1A1A1A"/>
                </a:solidFill>
              </a:rPr>
              <a:t>Representative Quote:**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296144" y="4050792"/>
            <a:ext cx="1417320" cy="1234440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232136" y="3986784"/>
            <a:ext cx="1417320" cy="1234440"/>
          </a:xfrm>
          <a:prstGeom prst="rect">
            <a:avLst/>
          </a:prstGeom>
          <a:solidFill>
            <a:srgbClr val="A8F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l"/>
            <a:r>
              <a:rPr sz="1000">
                <a:solidFill>
                  <a:srgbClr val="1A1A1A"/>
                </a:solidFill>
              </a:rPr>
              <a:t>&gt; *"Constantly chasing updates via Slack."* — Sarah Chen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l"/>
            <a:r>
              <a:rPr sz="2400" b="1">
                <a:solidFill>
                  <a:srgbClr val="FFFFFF"/>
                </a:solidFill>
              </a:rPr>
              <a:t>Persona: Trafficking Specialist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1143000"/>
            <a:ext cx="65836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>
                <a:solidFill>
                  <a:srgbClr val="1A1A1A"/>
                </a:solidFill>
              </a:rPr>
              <a:t>• Goals:**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1A1A1A"/>
                </a:solidFill>
              </a:rPr>
              <a:t>• Receive complete, accurate briefs with sufficient lead time to execute without errors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1A1A1A"/>
                </a:solidFill>
              </a:rPr>
              <a:t>• Spend the majority of working time on value-add trafficking work, not corrections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1A1A1A"/>
                </a:solidFill>
              </a:rPr>
              <a:t>• Operate from clearly defined, stable specifications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1A1A1A"/>
                </a:solidFill>
              </a:rPr>
              <a:t>• Pain Points:**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1A1A1A"/>
                </a:solidFill>
              </a:rPr>
              <a:t>• Briefs consistently arrive at the last minute, compressing execution timelines and increasing error risk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1A1A1A"/>
                </a:solidFill>
              </a:rPr>
              <a:t>• Unclear or incomplete specs drive an estimated 40% of working time into rework — a measurable productivity loss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1A1A1A"/>
                </a:solidFill>
              </a:rPr>
              <a:t>• Representative Quote:**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1A1A1A"/>
                </a:solidFill>
              </a:rPr>
              <a:t>• &gt; *"Receives briefs at the last minute, unclear specs, spends 40% of time on rework."* — Marcus Rodriguez</a:t>
            </a:r>
          </a:p>
        </p:txBody>
      </p:sp>
      <p:sp>
        <p:nvSpPr>
          <p:cNvPr id="4" name="Rectangle 3"/>
          <p:cNvSpPr/>
          <p:nvPr/>
        </p:nvSpPr>
        <p:spPr>
          <a:xfrm>
            <a:off x="7242048" y="1252728"/>
            <a:ext cx="1417320" cy="1234440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78040" y="1188720"/>
            <a:ext cx="1417320" cy="1234440"/>
          </a:xfrm>
          <a:prstGeom prst="rect">
            <a:avLst/>
          </a:prstGeom>
          <a:solidFill>
            <a:srgbClr val="FFF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l"/>
            <a:r>
              <a:rPr sz="1000">
                <a:solidFill>
                  <a:srgbClr val="1A1A1A"/>
                </a:solidFill>
              </a:rPr>
              <a:t>Goals:**</a:t>
            </a:r>
          </a:p>
        </p:txBody>
      </p:sp>
      <p:sp>
        <p:nvSpPr>
          <p:cNvPr id="6" name="Rectangle 5"/>
          <p:cNvSpPr/>
          <p:nvPr/>
        </p:nvSpPr>
        <p:spPr>
          <a:xfrm>
            <a:off x="8769096" y="1252728"/>
            <a:ext cx="1417320" cy="1234440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05088" y="1188720"/>
            <a:ext cx="1417320" cy="1234440"/>
          </a:xfrm>
          <a:prstGeom prst="rect">
            <a:avLst/>
          </a:prstGeom>
          <a:solidFill>
            <a:srgbClr val="A8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l"/>
            <a:r>
              <a:rPr sz="900">
                <a:solidFill>
                  <a:srgbClr val="1A1A1A"/>
                </a:solidFill>
              </a:rPr>
              <a:t>Receive complete, accurate briefs with sufficient lead time to execute without errors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296144" y="1252728"/>
            <a:ext cx="1417320" cy="1234440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232136" y="1188720"/>
            <a:ext cx="1417320" cy="1234440"/>
          </a:xfrm>
          <a:prstGeom prst="rect">
            <a:avLst/>
          </a:prstGeom>
          <a:solidFill>
            <a:srgbClr val="A8F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l"/>
            <a:r>
              <a:rPr sz="900">
                <a:solidFill>
                  <a:srgbClr val="1A1A1A"/>
                </a:solidFill>
              </a:rPr>
              <a:t>Spend the majority of working time on value-add trafficking work, not corrections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42048" y="2651760"/>
            <a:ext cx="1417320" cy="1234440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78040" y="2587752"/>
            <a:ext cx="1417320" cy="1234440"/>
          </a:xfrm>
          <a:prstGeom prst="rect">
            <a:avLst/>
          </a:prstGeom>
          <a:solidFill>
            <a:srgbClr val="FFC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l"/>
            <a:r>
              <a:rPr sz="1000">
                <a:solidFill>
                  <a:srgbClr val="1A1A1A"/>
                </a:solidFill>
              </a:rPr>
              <a:t>Operate from clearly defined, stable specifications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69096" y="2651760"/>
            <a:ext cx="1417320" cy="1234440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705088" y="2587752"/>
            <a:ext cx="1417320" cy="1234440"/>
          </a:xfrm>
          <a:prstGeom prst="rect">
            <a:avLst/>
          </a:prstGeom>
          <a:solidFill>
            <a:srgbClr val="FFA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l"/>
            <a:r>
              <a:rPr sz="1000">
                <a:solidFill>
                  <a:srgbClr val="1A1A1A"/>
                </a:solidFill>
              </a:rPr>
              <a:t>Pain Points:**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296144" y="2651760"/>
            <a:ext cx="1417320" cy="1234440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232136" y="2587752"/>
            <a:ext cx="1417320" cy="1234440"/>
          </a:xfrm>
          <a:prstGeom prst="rect">
            <a:avLst/>
          </a:prstGeom>
          <a:solidFill>
            <a:srgbClr val="D4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l"/>
            <a:r>
              <a:rPr sz="800">
                <a:solidFill>
                  <a:srgbClr val="1A1A1A"/>
                </a:solidFill>
              </a:rPr>
              <a:t>Briefs consistently arrive at the last minute, compressing execution timelines and increasing error risk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42048" y="4050792"/>
            <a:ext cx="1417320" cy="1234440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178040" y="3986784"/>
            <a:ext cx="1417320" cy="1234440"/>
          </a:xfrm>
          <a:prstGeom prst="rect">
            <a:avLst/>
          </a:prstGeom>
          <a:solidFill>
            <a:srgbClr val="FFF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l"/>
            <a:r>
              <a:rPr sz="800">
                <a:solidFill>
                  <a:srgbClr val="1A1A1A"/>
                </a:solidFill>
              </a:rPr>
              <a:t>Unclear or incomplete specs drive an estimated 40% of working time into rework — a measurable productivity loss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769096" y="4050792"/>
            <a:ext cx="1417320" cy="1234440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705088" y="3986784"/>
            <a:ext cx="1417320" cy="1234440"/>
          </a:xfrm>
          <a:prstGeom prst="rect">
            <a:avLst/>
          </a:prstGeom>
          <a:solidFill>
            <a:srgbClr val="A8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l"/>
            <a:r>
              <a:rPr sz="1000">
                <a:solidFill>
                  <a:srgbClr val="1A1A1A"/>
                </a:solidFill>
              </a:rPr>
              <a:t>Representative Quote:**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296144" y="4050792"/>
            <a:ext cx="1417320" cy="1234440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232136" y="3986784"/>
            <a:ext cx="1417320" cy="1234440"/>
          </a:xfrm>
          <a:prstGeom prst="rect">
            <a:avLst/>
          </a:prstGeom>
          <a:solidFill>
            <a:srgbClr val="A8F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l"/>
            <a:r>
              <a:rPr sz="800">
                <a:solidFill>
                  <a:srgbClr val="1A1A1A"/>
                </a:solidFill>
              </a:rPr>
              <a:t>&gt; *"Receives briefs at the last minute, unclear specs, spends 40% of time on rework."* — Marcus Rodriguez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l"/>
            <a:r>
              <a:rPr sz="2400" b="1">
                <a:solidFill>
                  <a:srgbClr val="FFFFFF"/>
                </a:solidFill>
              </a:rPr>
              <a:t>Persona: Analytics Lead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1143000"/>
            <a:ext cx="65836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>
                <a:solidFill>
                  <a:srgbClr val="1A1A1A"/>
                </a:solidFill>
              </a:rPr>
              <a:t>• Goals:**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1A1A1A"/>
                </a:solidFill>
              </a:rPr>
              <a:t>• Access reliable, timely data to support in-flight campaign optimization — not just post-campaign reporting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1A1A1A"/>
                </a:solidFill>
              </a:rPr>
              <a:t>• Build confidence in data integrity so insights can be acted on immediately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1A1A1A"/>
                </a:solidFill>
              </a:rPr>
              <a:t>• Shift from a reactive reporting posture to a proactive, advisory role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1A1A1A"/>
                </a:solidFill>
              </a:rPr>
              <a:t>• Pain Points:**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1A1A1A"/>
                </a:solidFill>
              </a:rPr>
              <a:t>• Mid-flight reporting is unreliable, forcing a full wait until campaign end before any meaningful data pull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1A1A1A"/>
                </a:solidFill>
              </a:rPr>
              <a:t>• Inability to course-correct during a live campaign represents a direct loss of optimization opportunity and business value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1A1A1A"/>
                </a:solidFill>
              </a:rPr>
              <a:t>• Representative Quote:**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1A1A1A"/>
                </a:solidFill>
              </a:rPr>
              <a:t>• &gt; *"Waits until campaign end to pull data because mid-flight reporting is unreliable."* — Priya Nair</a:t>
            </a:r>
          </a:p>
        </p:txBody>
      </p:sp>
      <p:sp>
        <p:nvSpPr>
          <p:cNvPr id="4" name="Rectangle 3"/>
          <p:cNvSpPr/>
          <p:nvPr/>
        </p:nvSpPr>
        <p:spPr>
          <a:xfrm>
            <a:off x="7242048" y="1252728"/>
            <a:ext cx="1417320" cy="1234440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78040" y="1188720"/>
            <a:ext cx="1417320" cy="1234440"/>
          </a:xfrm>
          <a:prstGeom prst="rect">
            <a:avLst/>
          </a:prstGeom>
          <a:solidFill>
            <a:srgbClr val="FFF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l"/>
            <a:r>
              <a:rPr sz="1000">
                <a:solidFill>
                  <a:srgbClr val="1A1A1A"/>
                </a:solidFill>
              </a:rPr>
              <a:t>Goals:**</a:t>
            </a:r>
          </a:p>
        </p:txBody>
      </p:sp>
      <p:sp>
        <p:nvSpPr>
          <p:cNvPr id="6" name="Rectangle 5"/>
          <p:cNvSpPr/>
          <p:nvPr/>
        </p:nvSpPr>
        <p:spPr>
          <a:xfrm>
            <a:off x="8769096" y="1252728"/>
            <a:ext cx="1417320" cy="1234440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05088" y="1188720"/>
            <a:ext cx="1417320" cy="1234440"/>
          </a:xfrm>
          <a:prstGeom prst="rect">
            <a:avLst/>
          </a:prstGeom>
          <a:solidFill>
            <a:srgbClr val="A8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l"/>
            <a:r>
              <a:rPr sz="800">
                <a:solidFill>
                  <a:srgbClr val="1A1A1A"/>
                </a:solidFill>
              </a:rPr>
              <a:t>Access reliable, timely data to support in-flight campaign optimization — not just post-campaign reporting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10296144" y="1252728"/>
            <a:ext cx="1417320" cy="1234440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232136" y="1188720"/>
            <a:ext cx="1417320" cy="1234440"/>
          </a:xfrm>
          <a:prstGeom prst="rect">
            <a:avLst/>
          </a:prstGeom>
          <a:solidFill>
            <a:srgbClr val="A8F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l"/>
            <a:r>
              <a:rPr sz="900">
                <a:solidFill>
                  <a:srgbClr val="1A1A1A"/>
                </a:solidFill>
              </a:rPr>
              <a:t>Build confidence in data integrity so insights can be acted on immediately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42048" y="2651760"/>
            <a:ext cx="1417320" cy="1234440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78040" y="2587752"/>
            <a:ext cx="1417320" cy="1234440"/>
          </a:xfrm>
          <a:prstGeom prst="rect">
            <a:avLst/>
          </a:prstGeom>
          <a:solidFill>
            <a:srgbClr val="FFC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l"/>
            <a:r>
              <a:rPr sz="900">
                <a:solidFill>
                  <a:srgbClr val="1A1A1A"/>
                </a:solidFill>
              </a:rPr>
              <a:t>Shift from a reactive reporting posture to a proactive, advisory role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69096" y="2651760"/>
            <a:ext cx="1417320" cy="1234440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705088" y="2587752"/>
            <a:ext cx="1417320" cy="1234440"/>
          </a:xfrm>
          <a:prstGeom prst="rect">
            <a:avLst/>
          </a:prstGeom>
          <a:solidFill>
            <a:srgbClr val="FFA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l"/>
            <a:r>
              <a:rPr sz="1000">
                <a:solidFill>
                  <a:srgbClr val="1A1A1A"/>
                </a:solidFill>
              </a:rPr>
              <a:t>Pain Points:**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296144" y="2651760"/>
            <a:ext cx="1417320" cy="1234440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232136" y="2587752"/>
            <a:ext cx="1417320" cy="1234440"/>
          </a:xfrm>
          <a:prstGeom prst="rect">
            <a:avLst/>
          </a:prstGeom>
          <a:solidFill>
            <a:srgbClr val="D4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l"/>
            <a:r>
              <a:rPr sz="800">
                <a:solidFill>
                  <a:srgbClr val="1A1A1A"/>
                </a:solidFill>
              </a:rPr>
              <a:t>Mid-flight reporting is unreliable, forcing a full wait until campaign end before any meaningful data pull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42048" y="4050792"/>
            <a:ext cx="1417320" cy="1234440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178040" y="3986784"/>
            <a:ext cx="1417320" cy="1234440"/>
          </a:xfrm>
          <a:prstGeom prst="rect">
            <a:avLst/>
          </a:prstGeom>
          <a:solidFill>
            <a:srgbClr val="FFF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l"/>
            <a:r>
              <a:rPr sz="800">
                <a:solidFill>
                  <a:srgbClr val="1A1A1A"/>
                </a:solidFill>
              </a:rPr>
              <a:t>Inability to course-correct during a live campaign represents a direct loss of optimization opportunity and business value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769096" y="4050792"/>
            <a:ext cx="1417320" cy="1234440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705088" y="3986784"/>
            <a:ext cx="1417320" cy="1234440"/>
          </a:xfrm>
          <a:prstGeom prst="rect">
            <a:avLst/>
          </a:prstGeom>
          <a:solidFill>
            <a:srgbClr val="A8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l"/>
            <a:r>
              <a:rPr sz="1000">
                <a:solidFill>
                  <a:srgbClr val="1A1A1A"/>
                </a:solidFill>
              </a:rPr>
              <a:t>Representative Quote:**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296144" y="4050792"/>
            <a:ext cx="1417320" cy="1234440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232136" y="3986784"/>
            <a:ext cx="1417320" cy="1234440"/>
          </a:xfrm>
          <a:prstGeom prst="rect">
            <a:avLst/>
          </a:prstGeom>
          <a:solidFill>
            <a:srgbClr val="A8F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l"/>
            <a:r>
              <a:rPr sz="900">
                <a:solidFill>
                  <a:srgbClr val="1A1A1A"/>
                </a:solidFill>
              </a:rPr>
              <a:t>&gt; *"Waits until campaign end to pull data because mid-flight reporting is unreliable."* — Priya Nair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l"/>
            <a:r>
              <a:rPr sz="2400" b="1">
                <a:solidFill>
                  <a:srgbClr val="FFFFFF"/>
                </a:solidFill>
              </a:rPr>
              <a:t>Persona: Creative Producer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1143000"/>
            <a:ext cx="65836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>
                <a:solidFill>
                  <a:srgbClr val="1A1A1A"/>
                </a:solidFill>
              </a:rPr>
              <a:t>• Goals:**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1A1A1A"/>
                </a:solidFill>
              </a:rPr>
              <a:t>• Operate with a clear, enforced prioritization system that distinguishes genuine urgency from routine requests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1A1A1A"/>
                </a:solidFill>
              </a:rPr>
              <a:t>• Receive consolidated, unambiguous feedback so creative work can be finalized without repeated revision cycles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1A1A1A"/>
                </a:solidFill>
              </a:rPr>
              <a:t>• Protect creative quality by working against realistic, stable timelines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1A1A1A"/>
                </a:solidFill>
              </a:rPr>
              <a:t>• Pain Points:**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1A1A1A"/>
                </a:solidFill>
              </a:rPr>
              <a:t>• The word "urgent" has been used so frequently and indiscriminately that it carries no signal value — all work feels equally high-priority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1A1A1A"/>
                </a:solidFill>
              </a:rPr>
              <a:t>• Absence of a defined feedback finalization process means it is never clear which round of input is the last, driving unnecessary revision loops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1A1A1A"/>
                </a:solidFill>
              </a:rPr>
              <a:t>• Representative Quote:**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1A1A1A"/>
                </a:solidFill>
              </a:rPr>
              <a:t>• &gt; *"Told 'urgent' so often the word has lost meaning; unclear which feedback is final."* — James Okafor</a:t>
            </a:r>
          </a:p>
        </p:txBody>
      </p:sp>
      <p:sp>
        <p:nvSpPr>
          <p:cNvPr id="4" name="Rectangle 3"/>
          <p:cNvSpPr/>
          <p:nvPr/>
        </p:nvSpPr>
        <p:spPr>
          <a:xfrm>
            <a:off x="7242048" y="1252728"/>
            <a:ext cx="1417320" cy="1234440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78040" y="1188720"/>
            <a:ext cx="1417320" cy="1234440"/>
          </a:xfrm>
          <a:prstGeom prst="rect">
            <a:avLst/>
          </a:prstGeom>
          <a:solidFill>
            <a:srgbClr val="FFF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l"/>
            <a:r>
              <a:rPr sz="1000">
                <a:solidFill>
                  <a:srgbClr val="1A1A1A"/>
                </a:solidFill>
              </a:rPr>
              <a:t>Goals:**</a:t>
            </a:r>
          </a:p>
        </p:txBody>
      </p:sp>
      <p:sp>
        <p:nvSpPr>
          <p:cNvPr id="6" name="Rectangle 5"/>
          <p:cNvSpPr/>
          <p:nvPr/>
        </p:nvSpPr>
        <p:spPr>
          <a:xfrm>
            <a:off x="8769096" y="1252728"/>
            <a:ext cx="1417320" cy="1234440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05088" y="1188720"/>
            <a:ext cx="1417320" cy="1234440"/>
          </a:xfrm>
          <a:prstGeom prst="rect">
            <a:avLst/>
          </a:prstGeom>
          <a:solidFill>
            <a:srgbClr val="A8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l"/>
            <a:r>
              <a:rPr sz="800">
                <a:solidFill>
                  <a:srgbClr val="1A1A1A"/>
                </a:solidFill>
              </a:rPr>
              <a:t>Operate with a clear, enforced prioritization system that distinguishes genuine urgency from routine requests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296144" y="1252728"/>
            <a:ext cx="1417320" cy="1234440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232136" y="1188720"/>
            <a:ext cx="1417320" cy="1234440"/>
          </a:xfrm>
          <a:prstGeom prst="rect">
            <a:avLst/>
          </a:prstGeom>
          <a:solidFill>
            <a:srgbClr val="A8F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l"/>
            <a:r>
              <a:rPr sz="800">
                <a:solidFill>
                  <a:srgbClr val="1A1A1A"/>
                </a:solidFill>
              </a:rPr>
              <a:t>Receive consolidated, unambiguous feedback so creative work can be finalized without repeated revision cycles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42048" y="2651760"/>
            <a:ext cx="1417320" cy="1234440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78040" y="2587752"/>
            <a:ext cx="1417320" cy="1234440"/>
          </a:xfrm>
          <a:prstGeom prst="rect">
            <a:avLst/>
          </a:prstGeom>
          <a:solidFill>
            <a:srgbClr val="FFC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l"/>
            <a:r>
              <a:rPr sz="900">
                <a:solidFill>
                  <a:srgbClr val="1A1A1A"/>
                </a:solidFill>
              </a:rPr>
              <a:t>Protect creative quality by working against realistic, stable timelines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69096" y="2651760"/>
            <a:ext cx="1417320" cy="1234440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705088" y="2587752"/>
            <a:ext cx="1417320" cy="1234440"/>
          </a:xfrm>
          <a:prstGeom prst="rect">
            <a:avLst/>
          </a:prstGeom>
          <a:solidFill>
            <a:srgbClr val="FFA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l"/>
            <a:r>
              <a:rPr sz="1000">
                <a:solidFill>
                  <a:srgbClr val="1A1A1A"/>
                </a:solidFill>
              </a:rPr>
              <a:t>Pain Points:**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296144" y="2651760"/>
            <a:ext cx="1417320" cy="1234440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232136" y="2587752"/>
            <a:ext cx="1417320" cy="1234440"/>
          </a:xfrm>
          <a:prstGeom prst="rect">
            <a:avLst/>
          </a:prstGeom>
          <a:solidFill>
            <a:srgbClr val="D4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l"/>
            <a:r>
              <a:rPr sz="800">
                <a:solidFill>
                  <a:srgbClr val="1A1A1A"/>
                </a:solidFill>
              </a:rPr>
              <a:t>The word "urgent" has been used so frequently and indiscriminately that it carries no signal value — all work feels equally high-priority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42048" y="4050792"/>
            <a:ext cx="1417320" cy="1234440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178040" y="3986784"/>
            <a:ext cx="1417320" cy="1234440"/>
          </a:xfrm>
          <a:prstGeom prst="rect">
            <a:avLst/>
          </a:prstGeom>
          <a:solidFill>
            <a:srgbClr val="FFF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l"/>
            <a:r>
              <a:rPr sz="800">
                <a:solidFill>
                  <a:srgbClr val="1A1A1A"/>
                </a:solidFill>
              </a:rPr>
              <a:t>Absence of a defined feedback finalization process means it is never clear which round of input is the last, driving unnecessary revision…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769096" y="4050792"/>
            <a:ext cx="1417320" cy="1234440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705088" y="3986784"/>
            <a:ext cx="1417320" cy="1234440"/>
          </a:xfrm>
          <a:prstGeom prst="rect">
            <a:avLst/>
          </a:prstGeom>
          <a:solidFill>
            <a:srgbClr val="A8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l"/>
            <a:r>
              <a:rPr sz="1000">
                <a:solidFill>
                  <a:srgbClr val="1A1A1A"/>
                </a:solidFill>
              </a:rPr>
              <a:t>Representative Quote:**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296144" y="4050792"/>
            <a:ext cx="1417320" cy="1234440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232136" y="3986784"/>
            <a:ext cx="1417320" cy="1234440"/>
          </a:xfrm>
          <a:prstGeom prst="rect">
            <a:avLst/>
          </a:prstGeom>
          <a:solidFill>
            <a:srgbClr val="A8F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l"/>
            <a:r>
              <a:rPr sz="800">
                <a:solidFill>
                  <a:srgbClr val="1A1A1A"/>
                </a:solidFill>
              </a:rPr>
              <a:t>&gt; *"Told 'urgent' so often the word has lost meaning; unclear which feedback is final."* — James Okafor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l"/>
            <a:r>
              <a:rPr sz="2400" b="1">
                <a:solidFill>
                  <a:srgbClr val="FFFFFF"/>
                </a:solidFill>
              </a:rPr>
              <a:t>Persona: Brand Director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1143000"/>
            <a:ext cx="65836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>
                <a:solidFill>
                  <a:srgbClr val="1A1A1A"/>
                </a:solidFill>
              </a:rPr>
              <a:t>• Goals:**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1A1A1A"/>
                </a:solidFill>
              </a:rPr>
              <a:t>• Access a live, reliable performance dashboard that eliminates the need for manual data preparation before leadership reviews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1A1A1A"/>
                </a:solidFill>
              </a:rPr>
              <a:t>• Enter every Monday review with numbers that are pre-reconciled, credible, and ready to present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1A1A1A"/>
                </a:solidFill>
              </a:rPr>
              <a:t>• Hold vendors and internal teams accountable to a single, consistent view of campaign performance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1A1A1A"/>
                </a:solidFill>
              </a:rPr>
              <a:t>• Pain Points:**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1A1A1A"/>
                </a:solidFill>
              </a:rPr>
              <a:t>• Receives static PowerPoint decks instead of dynamic, queryable reporting — creating a one-way, snapshot view of performance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1A1A1A"/>
                </a:solidFill>
              </a:rPr>
              <a:t>• Must manually reconcile figures before every executive review, consuming senior leadership bandwidth on low-value data hygiene work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1A1A1A"/>
                </a:solidFill>
              </a:rPr>
              <a:t>• Representative Quote:**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1A1A1A"/>
                </a:solidFill>
              </a:rPr>
              <a:t>• &gt; *"Wants a dashboard but gets a PowerPoint; has to manually reconcile numbers before every Monday review."* — Lily Thompson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242048" y="1252728"/>
            <a:ext cx="1417320" cy="1234440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78040" y="1188720"/>
            <a:ext cx="1417320" cy="1234440"/>
          </a:xfrm>
          <a:prstGeom prst="rect">
            <a:avLst/>
          </a:prstGeom>
          <a:solidFill>
            <a:srgbClr val="FFF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l"/>
            <a:r>
              <a:rPr sz="1000">
                <a:solidFill>
                  <a:srgbClr val="1A1A1A"/>
                </a:solidFill>
              </a:rPr>
              <a:t>Goals:**</a:t>
            </a:r>
          </a:p>
        </p:txBody>
      </p:sp>
      <p:sp>
        <p:nvSpPr>
          <p:cNvPr id="6" name="Rectangle 5"/>
          <p:cNvSpPr/>
          <p:nvPr/>
        </p:nvSpPr>
        <p:spPr>
          <a:xfrm>
            <a:off x="8769096" y="1252728"/>
            <a:ext cx="1417320" cy="1234440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05088" y="1188720"/>
            <a:ext cx="1417320" cy="1234440"/>
          </a:xfrm>
          <a:prstGeom prst="rect">
            <a:avLst/>
          </a:prstGeom>
          <a:solidFill>
            <a:srgbClr val="A8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l"/>
            <a:r>
              <a:rPr sz="800">
                <a:solidFill>
                  <a:srgbClr val="1A1A1A"/>
                </a:solidFill>
              </a:rPr>
              <a:t>Access a live, reliable performance dashboard that eliminates the need for manual data preparation before leadership reviews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296144" y="1252728"/>
            <a:ext cx="1417320" cy="1234440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232136" y="1188720"/>
            <a:ext cx="1417320" cy="1234440"/>
          </a:xfrm>
          <a:prstGeom prst="rect">
            <a:avLst/>
          </a:prstGeom>
          <a:solidFill>
            <a:srgbClr val="A8F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l"/>
            <a:r>
              <a:rPr sz="900">
                <a:solidFill>
                  <a:srgbClr val="1A1A1A"/>
                </a:solidFill>
              </a:rPr>
              <a:t>Enter every Monday review with numbers that are pre-reconciled, credible, and ready to present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42048" y="2651760"/>
            <a:ext cx="1417320" cy="1234440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78040" y="2587752"/>
            <a:ext cx="1417320" cy="1234440"/>
          </a:xfrm>
          <a:prstGeom prst="rect">
            <a:avLst/>
          </a:prstGeom>
          <a:solidFill>
            <a:srgbClr val="FFC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l"/>
            <a:r>
              <a:rPr sz="900">
                <a:solidFill>
                  <a:srgbClr val="1A1A1A"/>
                </a:solidFill>
              </a:rPr>
              <a:t>Hold vendors and internal teams accountable to a single, consistent view of campaign performance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69096" y="2651760"/>
            <a:ext cx="1417320" cy="1234440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705088" y="2587752"/>
            <a:ext cx="1417320" cy="1234440"/>
          </a:xfrm>
          <a:prstGeom prst="rect">
            <a:avLst/>
          </a:prstGeom>
          <a:solidFill>
            <a:srgbClr val="FFA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l"/>
            <a:r>
              <a:rPr sz="1000">
                <a:solidFill>
                  <a:srgbClr val="1A1A1A"/>
                </a:solidFill>
              </a:rPr>
              <a:t>Pain Points:**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296144" y="2651760"/>
            <a:ext cx="1417320" cy="1234440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232136" y="2587752"/>
            <a:ext cx="1417320" cy="1234440"/>
          </a:xfrm>
          <a:prstGeom prst="rect">
            <a:avLst/>
          </a:prstGeom>
          <a:solidFill>
            <a:srgbClr val="D4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l"/>
            <a:r>
              <a:rPr sz="800">
                <a:solidFill>
                  <a:srgbClr val="1A1A1A"/>
                </a:solidFill>
              </a:rPr>
              <a:t>Receives static PowerPoint decks instead of dynamic, queryable reporting — creating a one-way, snapshot view of performance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42048" y="4050792"/>
            <a:ext cx="1417320" cy="1234440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178040" y="3986784"/>
            <a:ext cx="1417320" cy="1234440"/>
          </a:xfrm>
          <a:prstGeom prst="rect">
            <a:avLst/>
          </a:prstGeom>
          <a:solidFill>
            <a:srgbClr val="FFF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l"/>
            <a:r>
              <a:rPr sz="800">
                <a:solidFill>
                  <a:srgbClr val="1A1A1A"/>
                </a:solidFill>
              </a:rPr>
              <a:t>Must manually reconcile figures before every executive review, consuming senior leadership bandwidth on low-value data hygiene work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769096" y="4050792"/>
            <a:ext cx="1417320" cy="1234440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705088" y="3986784"/>
            <a:ext cx="1417320" cy="1234440"/>
          </a:xfrm>
          <a:prstGeom prst="rect">
            <a:avLst/>
          </a:prstGeom>
          <a:solidFill>
            <a:srgbClr val="A8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l"/>
            <a:r>
              <a:rPr sz="1000">
                <a:solidFill>
                  <a:srgbClr val="1A1A1A"/>
                </a:solidFill>
              </a:rPr>
              <a:t>Representative Quote:**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296144" y="4050792"/>
            <a:ext cx="1417320" cy="1234440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232136" y="3986784"/>
            <a:ext cx="1417320" cy="1234440"/>
          </a:xfrm>
          <a:prstGeom prst="rect">
            <a:avLst/>
          </a:prstGeom>
          <a:solidFill>
            <a:srgbClr val="A8F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l"/>
            <a:r>
              <a:rPr sz="800">
                <a:solidFill>
                  <a:srgbClr val="1A1A1A"/>
                </a:solidFill>
              </a:rPr>
              <a:t>&gt; *"Wants a dashboard but gets a PowerPoint; has to manually reconcile numbers before every Monday review."* — Lily Thompson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l"/>
            <a:r>
              <a:rPr sz="2400" b="1">
                <a:solidFill>
                  <a:srgbClr val="FFFFFF"/>
                </a:solidFill>
              </a:rPr>
              <a:t>Common Threads Across Personas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1143000"/>
            <a:ext cx="65836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>
                <a:solidFill>
                  <a:srgbClr val="1A1A1A"/>
                </a:solidFill>
              </a:rPr>
              <a:t>• Absence of a single source of truth** cuts across every role: Campaign Managers chase status in Slack, Analytics Leads distrust mid-flight data, and Brand Directors manually reconcile figures — all symptoms of the same underlying data and visibility gap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1A1A1A"/>
                </a:solidFill>
              </a:rPr>
              <a:t>• Reactive, last-minute workflows** affect both upstream and downstream roles: Trafficking Specialists absorb the cost of late briefs; Creative Producers absorb the cost of undefined urgency and unfinalized feedback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1A1A1A"/>
                </a:solidFill>
              </a:rPr>
              <a:t>• High-value time lost to low-value work** is a consistent theme — 40% rework for Trafficking, manual number reconciliation for the Brand Director, and delayed insights for the Analytics Lead all represent measurable productivity and opportunity costs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1A1A1A"/>
                </a:solidFill>
              </a:rPr>
              <a:t>• Communication fragmentation** forces informal channels (Slack, PowerPoint hand-offs) to substitute for structured process — a workaround that scales poorly and erodes trust across the team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1A1A1A"/>
                </a:solidFill>
              </a:rPr>
              <a:t>• No shared definition of priority or finality** — "urgent" means nothing, feedback rounds have no designated end point, and reporting has no agreed cadence — suggesting a systemic gap in workflow governance that affects every persona represented in this room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1A1A1A"/>
                </a:solidFill>
              </a:rPr>
              <a:t>• Synthesized from live participant input. All content grounded in transcript dated 2026-03-18. No assumptions or invented content introduced.*</a:t>
            </a:r>
          </a:p>
        </p:txBody>
      </p:sp>
      <p:sp>
        <p:nvSpPr>
          <p:cNvPr id="4" name="Rectangle 3"/>
          <p:cNvSpPr/>
          <p:nvPr/>
        </p:nvSpPr>
        <p:spPr>
          <a:xfrm>
            <a:off x="7242048" y="1252728"/>
            <a:ext cx="1417320" cy="1234440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78040" y="1188720"/>
            <a:ext cx="1417320" cy="1234440"/>
          </a:xfrm>
          <a:prstGeom prst="rect">
            <a:avLst/>
          </a:prstGeom>
          <a:solidFill>
            <a:srgbClr val="FFF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l"/>
            <a:r>
              <a:rPr sz="800">
                <a:solidFill>
                  <a:srgbClr val="1A1A1A"/>
                </a:solidFill>
              </a:rPr>
              <a:t>Absence of a single source of truth** cuts across every role: Campaign Managers chase status in Slack, Analytics Leads distrust mid-fligh…</a:t>
            </a:r>
          </a:p>
        </p:txBody>
      </p:sp>
      <p:sp>
        <p:nvSpPr>
          <p:cNvPr id="6" name="Rectangle 5"/>
          <p:cNvSpPr/>
          <p:nvPr/>
        </p:nvSpPr>
        <p:spPr>
          <a:xfrm>
            <a:off x="8769096" y="1252728"/>
            <a:ext cx="1417320" cy="1234440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05088" y="1188720"/>
            <a:ext cx="1417320" cy="1234440"/>
          </a:xfrm>
          <a:prstGeom prst="rect">
            <a:avLst/>
          </a:prstGeom>
          <a:solidFill>
            <a:srgbClr val="A8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l"/>
            <a:r>
              <a:rPr sz="800">
                <a:solidFill>
                  <a:srgbClr val="1A1A1A"/>
                </a:solidFill>
              </a:rPr>
              <a:t>Reactive, last-minute workflows** affect both upstream and downstream roles: Trafficking Specialists absorb the cost of late briefs; Crea…</a:t>
            </a:r>
          </a:p>
        </p:txBody>
      </p:sp>
      <p:sp>
        <p:nvSpPr>
          <p:cNvPr id="8" name="Rectangle 7"/>
          <p:cNvSpPr/>
          <p:nvPr/>
        </p:nvSpPr>
        <p:spPr>
          <a:xfrm>
            <a:off x="10296144" y="1252728"/>
            <a:ext cx="1417320" cy="1234440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232136" y="1188720"/>
            <a:ext cx="1417320" cy="1234440"/>
          </a:xfrm>
          <a:prstGeom prst="rect">
            <a:avLst/>
          </a:prstGeom>
          <a:solidFill>
            <a:srgbClr val="A8F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l"/>
            <a:r>
              <a:rPr sz="800">
                <a:solidFill>
                  <a:srgbClr val="1A1A1A"/>
                </a:solidFill>
              </a:rPr>
              <a:t>High-value time lost to low-value work** is a consistent theme — 40% rework for Trafficking, manual number reconciliation for the Brand D…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42048" y="2651760"/>
            <a:ext cx="1417320" cy="1234440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78040" y="2587752"/>
            <a:ext cx="1417320" cy="1234440"/>
          </a:xfrm>
          <a:prstGeom prst="rect">
            <a:avLst/>
          </a:prstGeom>
          <a:solidFill>
            <a:srgbClr val="FFC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l"/>
            <a:r>
              <a:rPr sz="800">
                <a:solidFill>
                  <a:srgbClr val="1A1A1A"/>
                </a:solidFill>
              </a:rPr>
              <a:t>Communication fragmentation** forces informal channels (Slack, PowerPoint hand-offs) to substitute for structured process — a workaround 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69096" y="2651760"/>
            <a:ext cx="1417320" cy="1234440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705088" y="2587752"/>
            <a:ext cx="1417320" cy="1234440"/>
          </a:xfrm>
          <a:prstGeom prst="rect">
            <a:avLst/>
          </a:prstGeom>
          <a:solidFill>
            <a:srgbClr val="FFA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l"/>
            <a:r>
              <a:rPr sz="800">
                <a:solidFill>
                  <a:srgbClr val="1A1A1A"/>
                </a:solidFill>
              </a:rPr>
              <a:t>No shared definition of priority or finality** — "urgent" means nothing, feedback rounds have no designated end point, and reporting has …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296144" y="2651760"/>
            <a:ext cx="1417320" cy="1234440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232136" y="2587752"/>
            <a:ext cx="1417320" cy="1234440"/>
          </a:xfrm>
          <a:prstGeom prst="rect">
            <a:avLst/>
          </a:prstGeom>
          <a:solidFill>
            <a:srgbClr val="D4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l"/>
            <a:r>
              <a:rPr sz="800">
                <a:solidFill>
                  <a:srgbClr val="1A1A1A"/>
                </a:solidFill>
              </a:rPr>
              <a:t>Synthesized from live participant input. All content grounded in transcript dated 2026-03-18. No assumptions or invented content introduc…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