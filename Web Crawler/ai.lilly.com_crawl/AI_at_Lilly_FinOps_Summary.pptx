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AI at Lilly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CCFF"/>
                </a:solidFill>
                <a:latin typeface="Calibri"/>
              </a:rPr>
              <a:t>What Financial Operations Needs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4572000" cy="54864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Based on ai.lilly.com  |  Crawled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Lilly AI Program  •  Tech@Lilly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CCC"/>
                </a:solidFill>
                <a:latin typeface="Calibri"/>
              </a:rPr>
              <a:t>ai.lilly.com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ai.lilly.com?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Lilly's internal hub for all things Artificial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5943600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A2928"/>
                </a:solidFill>
                <a:latin typeface="Calibri"/>
              </a:rPr>
              <a:t>The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Single destination for AI products, guidance, and governance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Over 400 AI products tracked enterprise-wide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Maintained by Tech@Lilly and updated continuously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Includes tools available to ALL employees and tools available only to specific groups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Resources include PDFs, training, registry forms, and an AI chatbot (Lilly Assist)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A2928"/>
                </a:solidFill>
                <a:latin typeface="Calibri"/>
              </a:rPr>
              <a:t>Site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Products  —  Browse and access AI tools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AI Stack  —  Reusable AI building blocks for developers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AI Registry  —  Submit and track AI use cases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Guidance  —  Policies, dos/don'ts, decision trees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Learning  —  Training resources and upskilling paths</a:t>
            </a:r>
          </a:p>
          <a:p>
            <a:pPr algn="l"/>
            <a:r>
              <a:rPr sz="1350">
                <a:solidFill>
                  <a:srgbClr val="1A1A2E"/>
                </a:solidFill>
                <a:latin typeface="Calibri"/>
              </a:rPr>
              <a:t>•  FAQ  —  Answers to common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Tools Available to All Employees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Enterprise-wide products relevant to financial operations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Copilot Chat for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1051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AI assistant in Word, Excel, PowerPoint, Outlook &amp; Teams.
Boosts productivity for all M365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7" y="118872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5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Claude: Secure Chat
(Chat in a Box)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81051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Secure Claude AI chat cleared for Red / CCI data.
Available to all employees &amp; contractors (ex. China).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5" y="118872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3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ARTIE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3" y="181051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Automated Business Analytics &amp; Insights platform.
GenAI-powered for financial/operational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886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Forecasting.AI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41655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Upload time-series data, forecast trends with ML.
No coding required; no data stored.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7" y="379476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5" y="3886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Lilly Translate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5" y="441655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Translates into ~80 languages; speech-to-text.
Ideal for global communications and reporting.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9015" y="3794760"/>
            <a:ext cx="3657600" cy="2286000"/>
          </a:xfrm>
          <a:prstGeom prst="rect">
            <a:avLst/>
          </a:prstGeom>
          <a:solidFill>
            <a:srgbClr val="F4F4F4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3" y="3886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2928"/>
                </a:solidFill>
                <a:latin typeface="Calibri"/>
              </a:rPr>
              <a:t>Prompt Buddy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3" y="4416552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Share &amp; discover AI prompts in Microsoft Teams.
Accelerates team-wide AI adoption.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Specialized AI Tools (Limited Groups)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Role-specific tools — request access through your Tech@Lilly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61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Pharm(ai)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128016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9164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Build Claude 3.7 Sonnet agents, websites, quality docs. Relevant for process automation teams.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261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Cortex Landing Zone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280160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3" y="128016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Cortex 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69164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No-code agentic AI builder. Deploy knowledge workers and automated agents without coding.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AMIGO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017520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3" y="301752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Manufacturing Globally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4290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GenAI-driven line monitoring with real-time insights, recommendations, and alerts.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92608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BD360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3017520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3263" y="301752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Enterprise (all)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4290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Competitive intelligence dashboard — 85% accurate insights in &lt;30 seconds.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736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GitHub Copilot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754879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9663" y="4754879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GitHub License Holders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16635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AI coding assistant for developers — suggests code, automates repetitive tasks.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F4F4F4"/>
          </a:solidFill>
          <a:ln w="1524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736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AA7"/>
                </a:solidFill>
                <a:latin typeface="Calibri"/>
              </a:rPr>
              <a:t>iQ AI Assistant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04120" y="4754879"/>
            <a:ext cx="155448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3263" y="4754879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 Field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516635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ChatGPT-style assistant for fast field insights and data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AI Registry: All AI Use Cases Must Be Registered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Governance process effective November 7, 2025 — streamlined for low-risk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011680" cy="2560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44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
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48840"/>
            <a:ext cx="18288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Weekly review: ROI, strategy fit, duplication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148840"/>
            <a:ext cx="256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1234440"/>
            <a:ext cx="2011680" cy="25603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344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
Functional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148840"/>
            <a:ext cx="18288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Tech@Lilly aligns use case with local strategy &amp; confirms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148840"/>
            <a:ext cx="256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5464" y="1234440"/>
            <a:ext cx="2011680" cy="25603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1344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
Risk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2148840"/>
            <a:ext cx="18288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Architect evaluates data, design, vendor; assigns Fast / Standard / High Risk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148840"/>
            <a:ext cx="256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3176" y="1234440"/>
            <a:ext cx="2011680" cy="2560320"/>
          </a:xfrm>
          <a:prstGeom prst="rect">
            <a:avLst/>
          </a:prstGeom>
          <a:solidFill>
            <a:srgbClr val="33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6" y="1344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
AI Tech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2148840"/>
            <a:ext cx="18288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Experts recommend existing systems, define architecture, mitigate tech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148840"/>
            <a:ext cx="256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0888" y="1234440"/>
            <a:ext cx="2011680" cy="2560320"/>
          </a:xfrm>
          <a:prstGeom prst="rect">
            <a:avLst/>
          </a:prstGeom>
          <a:solidFill>
            <a:srgbClr val="33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1344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
Legal &amp;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2148840"/>
            <a:ext cx="18288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Compliance, data protection, quality standards (GMP if applicable)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11521440" cy="822960"/>
          </a:xfrm>
          <a:prstGeom prst="rect">
            <a:avLst/>
          </a:prstGeom>
          <a:solidFill>
            <a:srgbClr val="FFF3CC"/>
          </a:solidFill>
          <a:ln w="12700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9651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Low-Risk Fast Path: Low-risk use cases (common data, standard context) only need reviews 1–3, saving significant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983480"/>
            <a:ext cx="11521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•  Dev work using green data can begin after AI Tech review (step 4)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•  Work in QA/Prod or processing Lilly data through a vendor cannot begin until ALL reviews complete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•  Engage reviewers proactively — unresponsive teams delay approvals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•  Vendor contracts must include standard AI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Using AI Responsibly at Lilly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Key policies and guardrails every employee must follow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Verify AI outputs for accuracy before acting on them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Use Lilly-approved tools (Chat in a Box, Copilot) for confidential / personal data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Disclose AI use in external-facing content and customer interactions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Know your data sources — understand biases and limitations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Engage AI Change Champions for help with adoption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Get help on AI vendor contracts before signing anything</a:t>
            </a:r>
          </a:p>
          <a:p>
            <a:pPr algn="l"/>
            <a:r>
              <a:rPr sz="1300">
                <a:solidFill>
                  <a:srgbClr val="1B5E20"/>
                </a:solidFill>
                <a:latin typeface="Calibri"/>
              </a:rPr>
              <a:t>•  Read the Using AI Responsibly at Lilly procedure before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5943600" cy="5120640"/>
          </a:xfrm>
          <a:prstGeom prst="rect">
            <a:avLst/>
          </a:prstGeom>
          <a:solidFill>
            <a:srgbClr val="FFEBEE"/>
          </a:solidFill>
          <a:ln w="1905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61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A2928"/>
                </a:solidFill>
                <a:latin typeface="Calibr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Enter confidential or personal data into unapproved public AI tools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Enter into paid AI license agreements for company use (must go through procurement)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Put intellectual property at risk with unvetted tools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Rely on AI output without independent verification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Use public AI tools outside policy guidelines for business decisions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Assume AI content is accurate — hallucinations are real and common</a:t>
            </a:r>
          </a:p>
          <a:p>
            <a:pPr algn="l"/>
            <a:r>
              <a:rPr sz="1300">
                <a:solidFill>
                  <a:srgbClr val="DA2928"/>
                </a:solidFill>
                <a:latin typeface="Calibri"/>
              </a:rPr>
              <a:t>•  Skip the AI Registry process for new AI use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Means for Financial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Practical opportunities and obligations for FinOps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611880" cy="68580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Efficiency
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3611880" cy="4572000"/>
          </a:xfrm>
          <a:prstGeom prst="rect">
            <a:avLst/>
          </a:prstGeom>
          <a:solidFill>
            <a:srgbClr val="F4F4F4"/>
          </a:solidFill>
          <a:ln w="1270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Forecasting.AI automates time-series trend analysis without coding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ARTIE delivers automated analytics and business insights on demand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Copilot Chat for Work drafts reports, analyzes Excel data, summarizes meetings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Lilly Translate removes language barriers for global financial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2232" y="1188720"/>
            <a:ext cx="3611880" cy="68580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2070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Governance
Obligations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2" y="1874519"/>
            <a:ext cx="3611880" cy="45720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ALL new AI use cases must be submitted to the AI Registry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Do not sign vendor AI contracts independently — get help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Verify AI-generated financial figures before using in reports or decisions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Disclose AI use in external or stakeholder-facing financial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188720"/>
            <a:ext cx="3611880" cy="685800"/>
          </a:xfrm>
          <a:prstGeom prst="rect">
            <a:avLst/>
          </a:prstGeom>
          <a:solidFill>
            <a:srgbClr val="33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12070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Getting
Started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874519"/>
            <a:ext cx="3611880" cy="4572000"/>
          </a:xfrm>
          <a:prstGeom prst="rect">
            <a:avLst/>
          </a:prstGeom>
          <a:solidFill>
            <a:srgbClr val="F4F4F4"/>
          </a:solidFill>
          <a:ln w="12700">
            <a:solidFill>
              <a:srgbClr val="33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Visit ai.lilly.com to browse approved tools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Connect with your AI Change Champion for guided adoption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Complete AI upskilling training (ai.lilly.com/ai-upskilling)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Submit AI ideas via the Registry Intake Form</a:t>
            </a:r>
          </a:p>
          <a:p>
            <a:pPr algn="l"/>
            <a:r>
              <a:rPr sz="1250">
                <a:solidFill>
                  <a:srgbClr val="1A1A2E"/>
                </a:solidFill>
                <a:latin typeface="Calibri"/>
              </a:rPr>
              <a:t>•  Ask Lilly Assist (chatbot on ai.lilly.com) for quick 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Facts &amp;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At a glance — numbers and resources from ai.lilly.com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651760" cy="146304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400+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 Products
at Lilly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651760" cy="146304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Languages
via Lilly Translate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Registry Review
Steps (standard)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188720"/>
            <a:ext cx="2651760" cy="146304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2344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Registry Review
Steps (fast path)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11612880" cy="1051560"/>
          </a:xfrm>
          <a:prstGeom prst="rect">
            <a:avLst/>
          </a:prstGeom>
          <a:solidFill>
            <a:srgbClr val="FDF6E3"/>
          </a:solidFill>
          <a:ln w="12700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5C00"/>
                </a:solidFill>
                <a:latin typeface="Calibri"/>
              </a:rPr>
              <a:t>Data Classification Reminders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Chat in a Box (Claude) and Copilot Chat for Work  are BOTH approved for Red / CI / PI data.  Enterprise Claude is approved for CI &amp; PI but NOT for Orange+ SPI.  When in doubt, use Chat in a Box or ask the Digital Legal Office.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Key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389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ai.lilly.com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Main AI hub — browse products, guidance, and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389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ai.lilly.com/products/enterprise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Full list of enterprise-wide AI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474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ai.lilly.com/lilly-ai-guidance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0474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Policies, decision trees, dos &amp; don'ts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474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ai.lilly.com/ai-registry/review-process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0474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 Registry review steps and timelines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7058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ai.lilly.com/ai-upskilling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7058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Upskilling program for Tech@Lilly leaders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7058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AA7"/>
                </a:solidFill>
                <a:latin typeface="Calibri"/>
              </a:rPr>
              <a:t>ai@lilly.com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7058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Contact the AI team with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Disclosure &amp; Compliance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What financial operations staff must do to stay compliant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ai.lilly.com  |  Lilly AI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WHEN TO DISCLOSE AI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2651760" cy="1645920"/>
          </a:xfrm>
          <a:prstGeom prst="rect">
            <a:avLst/>
          </a:prstGeom>
          <a:solidFill>
            <a:srgbClr val="F4F4F4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116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External-facing content
(marketing, publications, social media)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1920240"/>
            <a:ext cx="3063240" cy="1645920"/>
          </a:xfrm>
          <a:prstGeom prst="rect">
            <a:avLst/>
          </a:prstGeom>
          <a:solidFill>
            <a:srgbClr val="FFEBEE"/>
          </a:solidFill>
          <a:ln w="1270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228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A2928"/>
                </a:solidFill>
                <a:latin typeface="Calibri"/>
              </a:rPr>
              <a:t>DISCLOSURE REQUIRED — label as AI-generated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2651760" cy="1645920"/>
          </a:xfrm>
          <a:prstGeom prst="rect">
            <a:avLst/>
          </a:prstGeom>
          <a:solidFill>
            <a:srgbClr val="F4F4F4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0116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Internal reports / decisions
(e.g., financial analysis, forecasts)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7" y="1920240"/>
            <a:ext cx="306324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28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Calibri"/>
              </a:rPr>
              <a:t>DISCLOSE if AI output directly drives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2651760" cy="1645920"/>
          </a:xfrm>
          <a:prstGeom prst="rect">
            <a:avLst/>
          </a:prstGeom>
          <a:solidFill>
            <a:srgbClr val="F4F4F4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319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Drafting emails, translating docs
(Copilot, LillyTranslate)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44368" y="3840480"/>
            <a:ext cx="306324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39" y="4206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Calibri"/>
              </a:rPr>
              <a:t>Exempt — treated as productivity tools, no disclosure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2651760" cy="1645920"/>
          </a:xfrm>
          <a:prstGeom prst="rect">
            <a:avLst/>
          </a:prstGeom>
          <a:solidFill>
            <a:srgbClr val="F4F4F4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9319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Chatbots / AI tools deployed
to other Lilly staff or customers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7" y="3840480"/>
            <a:ext cx="3063240" cy="1645920"/>
          </a:xfrm>
          <a:prstGeom prst="rect">
            <a:avLst/>
          </a:prstGeom>
          <a:solidFill>
            <a:srgbClr val="FFEBEE"/>
          </a:solidFill>
          <a:ln w="12700">
            <a:solidFill>
              <a:srgbClr val="DA2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4206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A2928"/>
                </a:solidFill>
                <a:latin typeface="Calibri"/>
              </a:rPr>
              <a:t>REQUIRED — inform users they are interacting with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06440"/>
            <a:ext cx="11612880" cy="5486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  <a:latin typeface="Calibri"/>
              </a:rPr>
              <a:t>Rule of thumb: When in doubt, disclose.  Questions? Contact the Digital Legal Office or ai@lilly.com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Your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657600" cy="54864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Visit ai.lilly.com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Explore the product catalog and find tools relevant to your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502920" cy="5029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Complete AI Upskilling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385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Take the 2025 AI Upskilling course at ai.lilly.com/ai-upskilling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502920" cy="5029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Identify a 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385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Spot a process that could benefit from AI and register it via the Intake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64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Connect with AI Change 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6301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Get personalized help with tool adoption and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46120"/>
            <a:ext cx="502920" cy="502920"/>
          </a:xfrm>
          <a:prstGeom prst="rect">
            <a:avLst/>
          </a:prstGeom>
          <a:solidFill>
            <a:srgbClr val="DA2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64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Review AI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6301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Read the Using AI Responsibly procedure before deploying any 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Questions?  ai@lilly.com  |  ai.lilly.com  |  Lilly Assist chatbot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CCCC"/>
                </a:solidFill>
                <a:latin typeface="Calibri"/>
              </a:rPr>
              <a:t>Tech@Lilly AI Program  •  Based on ai.lilly.com content crawled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